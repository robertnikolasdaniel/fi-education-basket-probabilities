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105" d="100"/>
          <a:sy n="105" d="100"/>
        </p:scale>
        <p:origin x="834"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B721C4-C2D9-1F86-C126-4596C8714E5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1F64739-70D1-3923-8B51-D43388B1A98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CD2BBDA-00D1-0E60-53E2-F2021FCF692B}"/>
              </a:ext>
            </a:extLst>
          </p:cNvPr>
          <p:cNvSpPr>
            <a:spLocks noGrp="1"/>
          </p:cNvSpPr>
          <p:nvPr>
            <p:ph type="dt" sz="half" idx="10"/>
          </p:nvPr>
        </p:nvSpPr>
        <p:spPr/>
        <p:txBody>
          <a:bodyPr/>
          <a:lstStyle/>
          <a:p>
            <a:fld id="{FF9270BB-DA00-4674-A8D0-5161C3E8F9EB}" type="datetimeFigureOut">
              <a:rPr lang="en-US" smtClean="0"/>
              <a:t>6/7/2026</a:t>
            </a:fld>
            <a:endParaRPr lang="en-US"/>
          </a:p>
        </p:txBody>
      </p:sp>
      <p:sp>
        <p:nvSpPr>
          <p:cNvPr id="5" name="Footer Placeholder 4">
            <a:extLst>
              <a:ext uri="{FF2B5EF4-FFF2-40B4-BE49-F238E27FC236}">
                <a16:creationId xmlns:a16="http://schemas.microsoft.com/office/drawing/2014/main" id="{7B7EDDAE-A8C7-8554-D156-39C7FDA279C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D7D5C38-D546-C840-D2C3-E6FDCCD1DDB2}"/>
              </a:ext>
            </a:extLst>
          </p:cNvPr>
          <p:cNvSpPr>
            <a:spLocks noGrp="1"/>
          </p:cNvSpPr>
          <p:nvPr>
            <p:ph type="sldNum" sz="quarter" idx="12"/>
          </p:nvPr>
        </p:nvSpPr>
        <p:spPr/>
        <p:txBody>
          <a:bodyPr/>
          <a:lstStyle/>
          <a:p>
            <a:fld id="{7B6DD829-6552-4527-976B-D58D351476A5}" type="slidenum">
              <a:rPr lang="en-US" smtClean="0"/>
              <a:t>‹#›</a:t>
            </a:fld>
            <a:endParaRPr lang="en-US"/>
          </a:p>
        </p:txBody>
      </p:sp>
    </p:spTree>
    <p:extLst>
      <p:ext uri="{BB962C8B-B14F-4D97-AF65-F5344CB8AC3E}">
        <p14:creationId xmlns:p14="http://schemas.microsoft.com/office/powerpoint/2010/main" val="24062325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00492B-FB98-4E24-3865-940CE69F8B3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F2A7C70-A288-5AB2-CCB6-1C4CD90A44A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DA1FCF6-F851-4281-66D8-7D034914FA12}"/>
              </a:ext>
            </a:extLst>
          </p:cNvPr>
          <p:cNvSpPr>
            <a:spLocks noGrp="1"/>
          </p:cNvSpPr>
          <p:nvPr>
            <p:ph type="dt" sz="half" idx="10"/>
          </p:nvPr>
        </p:nvSpPr>
        <p:spPr/>
        <p:txBody>
          <a:bodyPr/>
          <a:lstStyle/>
          <a:p>
            <a:fld id="{FF9270BB-DA00-4674-A8D0-5161C3E8F9EB}" type="datetimeFigureOut">
              <a:rPr lang="en-US" smtClean="0"/>
              <a:t>6/7/2026</a:t>
            </a:fld>
            <a:endParaRPr lang="en-US"/>
          </a:p>
        </p:txBody>
      </p:sp>
      <p:sp>
        <p:nvSpPr>
          <p:cNvPr id="5" name="Footer Placeholder 4">
            <a:extLst>
              <a:ext uri="{FF2B5EF4-FFF2-40B4-BE49-F238E27FC236}">
                <a16:creationId xmlns:a16="http://schemas.microsoft.com/office/drawing/2014/main" id="{2044AA6A-5B8A-9885-B8F5-9BA661EBE25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371E95C-6442-6C70-130A-8CDB4EAC4281}"/>
              </a:ext>
            </a:extLst>
          </p:cNvPr>
          <p:cNvSpPr>
            <a:spLocks noGrp="1"/>
          </p:cNvSpPr>
          <p:nvPr>
            <p:ph type="sldNum" sz="quarter" idx="12"/>
          </p:nvPr>
        </p:nvSpPr>
        <p:spPr/>
        <p:txBody>
          <a:bodyPr/>
          <a:lstStyle/>
          <a:p>
            <a:fld id="{7B6DD829-6552-4527-976B-D58D351476A5}" type="slidenum">
              <a:rPr lang="en-US" smtClean="0"/>
              <a:t>‹#›</a:t>
            </a:fld>
            <a:endParaRPr lang="en-US"/>
          </a:p>
        </p:txBody>
      </p:sp>
    </p:spTree>
    <p:extLst>
      <p:ext uri="{BB962C8B-B14F-4D97-AF65-F5344CB8AC3E}">
        <p14:creationId xmlns:p14="http://schemas.microsoft.com/office/powerpoint/2010/main" val="40323079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477891-7D1A-38AD-E4E9-9FBBAE59CE3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AD87664-B50D-5FB8-DC3A-D882F6C5651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40C32C1-8BCB-E200-7E0B-3C5F3227D691}"/>
              </a:ext>
            </a:extLst>
          </p:cNvPr>
          <p:cNvSpPr>
            <a:spLocks noGrp="1"/>
          </p:cNvSpPr>
          <p:nvPr>
            <p:ph type="dt" sz="half" idx="10"/>
          </p:nvPr>
        </p:nvSpPr>
        <p:spPr/>
        <p:txBody>
          <a:bodyPr/>
          <a:lstStyle/>
          <a:p>
            <a:fld id="{FF9270BB-DA00-4674-A8D0-5161C3E8F9EB}" type="datetimeFigureOut">
              <a:rPr lang="en-US" smtClean="0"/>
              <a:t>6/7/2026</a:t>
            </a:fld>
            <a:endParaRPr lang="en-US"/>
          </a:p>
        </p:txBody>
      </p:sp>
      <p:sp>
        <p:nvSpPr>
          <p:cNvPr id="5" name="Footer Placeholder 4">
            <a:extLst>
              <a:ext uri="{FF2B5EF4-FFF2-40B4-BE49-F238E27FC236}">
                <a16:creationId xmlns:a16="http://schemas.microsoft.com/office/drawing/2014/main" id="{9CB437B6-EF42-462A-DBE5-51B3F38F71C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C07D967-C7E0-A70E-24FE-C5EA27C05F38}"/>
              </a:ext>
            </a:extLst>
          </p:cNvPr>
          <p:cNvSpPr>
            <a:spLocks noGrp="1"/>
          </p:cNvSpPr>
          <p:nvPr>
            <p:ph type="sldNum" sz="quarter" idx="12"/>
          </p:nvPr>
        </p:nvSpPr>
        <p:spPr/>
        <p:txBody>
          <a:bodyPr/>
          <a:lstStyle/>
          <a:p>
            <a:fld id="{7B6DD829-6552-4527-976B-D58D351476A5}" type="slidenum">
              <a:rPr lang="en-US" smtClean="0"/>
              <a:t>‹#›</a:t>
            </a:fld>
            <a:endParaRPr lang="en-US"/>
          </a:p>
        </p:txBody>
      </p:sp>
    </p:spTree>
    <p:extLst>
      <p:ext uri="{BB962C8B-B14F-4D97-AF65-F5344CB8AC3E}">
        <p14:creationId xmlns:p14="http://schemas.microsoft.com/office/powerpoint/2010/main" val="30360856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FD4EEB-DB2C-8670-CA2D-B1B2EAB3599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4D5FB65-398D-8248-B1D9-85F3E0A6379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D450241-DB93-1EEE-D03C-E87621D2EE9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70E9695-3FAD-4276-0F84-AF73D88A2066}"/>
              </a:ext>
            </a:extLst>
          </p:cNvPr>
          <p:cNvSpPr>
            <a:spLocks noGrp="1"/>
          </p:cNvSpPr>
          <p:nvPr>
            <p:ph type="dt" sz="half" idx="10"/>
          </p:nvPr>
        </p:nvSpPr>
        <p:spPr/>
        <p:txBody>
          <a:bodyPr/>
          <a:lstStyle/>
          <a:p>
            <a:fld id="{FF9270BB-DA00-4674-A8D0-5161C3E8F9EB}" type="datetimeFigureOut">
              <a:rPr lang="en-US" smtClean="0"/>
              <a:t>6/7/2026</a:t>
            </a:fld>
            <a:endParaRPr lang="en-US"/>
          </a:p>
        </p:txBody>
      </p:sp>
      <p:sp>
        <p:nvSpPr>
          <p:cNvPr id="6" name="Footer Placeholder 5">
            <a:extLst>
              <a:ext uri="{FF2B5EF4-FFF2-40B4-BE49-F238E27FC236}">
                <a16:creationId xmlns:a16="http://schemas.microsoft.com/office/drawing/2014/main" id="{3F9BABAF-6391-A2D9-956A-31ADEBF9C23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68A557E-12C0-CD51-A2E8-9D18CC896451}"/>
              </a:ext>
            </a:extLst>
          </p:cNvPr>
          <p:cNvSpPr>
            <a:spLocks noGrp="1"/>
          </p:cNvSpPr>
          <p:nvPr>
            <p:ph type="sldNum" sz="quarter" idx="12"/>
          </p:nvPr>
        </p:nvSpPr>
        <p:spPr/>
        <p:txBody>
          <a:bodyPr/>
          <a:lstStyle/>
          <a:p>
            <a:fld id="{7B6DD829-6552-4527-976B-D58D351476A5}" type="slidenum">
              <a:rPr lang="en-US" smtClean="0"/>
              <a:t>‹#›</a:t>
            </a:fld>
            <a:endParaRPr lang="en-US"/>
          </a:p>
        </p:txBody>
      </p:sp>
    </p:spTree>
    <p:extLst>
      <p:ext uri="{BB962C8B-B14F-4D97-AF65-F5344CB8AC3E}">
        <p14:creationId xmlns:p14="http://schemas.microsoft.com/office/powerpoint/2010/main" val="6511341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7094A4-B340-692F-B352-31BC978EB82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7E74889-AFA3-CCCC-FBAA-E0CEC8E3A87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4954C3C-AE69-1906-E342-678F6C14865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6F79B59-2A9F-502A-F7CB-D0D2ECBCC0D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B349951-7BB4-03FD-E1A2-978003E0347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7E1420A-7347-0F6E-C722-C38F02CD4224}"/>
              </a:ext>
            </a:extLst>
          </p:cNvPr>
          <p:cNvSpPr>
            <a:spLocks noGrp="1"/>
          </p:cNvSpPr>
          <p:nvPr>
            <p:ph type="dt" sz="half" idx="10"/>
          </p:nvPr>
        </p:nvSpPr>
        <p:spPr/>
        <p:txBody>
          <a:bodyPr/>
          <a:lstStyle/>
          <a:p>
            <a:fld id="{FF9270BB-DA00-4674-A8D0-5161C3E8F9EB}" type="datetimeFigureOut">
              <a:rPr lang="en-US" smtClean="0"/>
              <a:t>6/7/2026</a:t>
            </a:fld>
            <a:endParaRPr lang="en-US"/>
          </a:p>
        </p:txBody>
      </p:sp>
      <p:sp>
        <p:nvSpPr>
          <p:cNvPr id="8" name="Footer Placeholder 7">
            <a:extLst>
              <a:ext uri="{FF2B5EF4-FFF2-40B4-BE49-F238E27FC236}">
                <a16:creationId xmlns:a16="http://schemas.microsoft.com/office/drawing/2014/main" id="{F7029763-4288-0747-DE0A-680AA7C88F9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CBFC35D-A2CA-ACEB-D9FF-D913B04BDFBA}"/>
              </a:ext>
            </a:extLst>
          </p:cNvPr>
          <p:cNvSpPr>
            <a:spLocks noGrp="1"/>
          </p:cNvSpPr>
          <p:nvPr>
            <p:ph type="sldNum" sz="quarter" idx="12"/>
          </p:nvPr>
        </p:nvSpPr>
        <p:spPr/>
        <p:txBody>
          <a:bodyPr/>
          <a:lstStyle/>
          <a:p>
            <a:fld id="{7B6DD829-6552-4527-976B-D58D351476A5}" type="slidenum">
              <a:rPr lang="en-US" smtClean="0"/>
              <a:t>‹#›</a:t>
            </a:fld>
            <a:endParaRPr lang="en-US"/>
          </a:p>
        </p:txBody>
      </p:sp>
    </p:spTree>
    <p:extLst>
      <p:ext uri="{BB962C8B-B14F-4D97-AF65-F5344CB8AC3E}">
        <p14:creationId xmlns:p14="http://schemas.microsoft.com/office/powerpoint/2010/main" val="8112157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580C60-3826-679C-E780-0EC35F45C42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77638B0-2798-935D-478B-D259379BA26F}"/>
              </a:ext>
            </a:extLst>
          </p:cNvPr>
          <p:cNvSpPr>
            <a:spLocks noGrp="1"/>
          </p:cNvSpPr>
          <p:nvPr>
            <p:ph type="dt" sz="half" idx="10"/>
          </p:nvPr>
        </p:nvSpPr>
        <p:spPr/>
        <p:txBody>
          <a:bodyPr/>
          <a:lstStyle/>
          <a:p>
            <a:fld id="{FF9270BB-DA00-4674-A8D0-5161C3E8F9EB}" type="datetimeFigureOut">
              <a:rPr lang="en-US" smtClean="0"/>
              <a:t>6/7/2026</a:t>
            </a:fld>
            <a:endParaRPr lang="en-US"/>
          </a:p>
        </p:txBody>
      </p:sp>
      <p:sp>
        <p:nvSpPr>
          <p:cNvPr id="4" name="Footer Placeholder 3">
            <a:extLst>
              <a:ext uri="{FF2B5EF4-FFF2-40B4-BE49-F238E27FC236}">
                <a16:creationId xmlns:a16="http://schemas.microsoft.com/office/drawing/2014/main" id="{E75F8862-D433-F2DB-6AA3-03DE12653D5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7FE638D-987F-75BF-8FCA-C0A01533E9FB}"/>
              </a:ext>
            </a:extLst>
          </p:cNvPr>
          <p:cNvSpPr>
            <a:spLocks noGrp="1"/>
          </p:cNvSpPr>
          <p:nvPr>
            <p:ph type="sldNum" sz="quarter" idx="12"/>
          </p:nvPr>
        </p:nvSpPr>
        <p:spPr/>
        <p:txBody>
          <a:bodyPr/>
          <a:lstStyle/>
          <a:p>
            <a:fld id="{7B6DD829-6552-4527-976B-D58D351476A5}" type="slidenum">
              <a:rPr lang="en-US" smtClean="0"/>
              <a:t>‹#›</a:t>
            </a:fld>
            <a:endParaRPr lang="en-US"/>
          </a:p>
        </p:txBody>
      </p:sp>
    </p:spTree>
    <p:extLst>
      <p:ext uri="{BB962C8B-B14F-4D97-AF65-F5344CB8AC3E}">
        <p14:creationId xmlns:p14="http://schemas.microsoft.com/office/powerpoint/2010/main" val="15098464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030B33A-935C-3E52-D861-328371D5EE69}"/>
              </a:ext>
            </a:extLst>
          </p:cNvPr>
          <p:cNvSpPr>
            <a:spLocks noGrp="1"/>
          </p:cNvSpPr>
          <p:nvPr>
            <p:ph type="dt" sz="half" idx="10"/>
          </p:nvPr>
        </p:nvSpPr>
        <p:spPr/>
        <p:txBody>
          <a:bodyPr/>
          <a:lstStyle/>
          <a:p>
            <a:fld id="{FF9270BB-DA00-4674-A8D0-5161C3E8F9EB}" type="datetimeFigureOut">
              <a:rPr lang="en-US" smtClean="0"/>
              <a:t>6/7/2026</a:t>
            </a:fld>
            <a:endParaRPr lang="en-US"/>
          </a:p>
        </p:txBody>
      </p:sp>
      <p:sp>
        <p:nvSpPr>
          <p:cNvPr id="3" name="Footer Placeholder 2">
            <a:extLst>
              <a:ext uri="{FF2B5EF4-FFF2-40B4-BE49-F238E27FC236}">
                <a16:creationId xmlns:a16="http://schemas.microsoft.com/office/drawing/2014/main" id="{AF144639-D534-D61B-D005-F5E9A69D4D1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B210F48-8C95-5206-4B35-3B4473B3B420}"/>
              </a:ext>
            </a:extLst>
          </p:cNvPr>
          <p:cNvSpPr>
            <a:spLocks noGrp="1"/>
          </p:cNvSpPr>
          <p:nvPr>
            <p:ph type="sldNum" sz="quarter" idx="12"/>
          </p:nvPr>
        </p:nvSpPr>
        <p:spPr/>
        <p:txBody>
          <a:bodyPr/>
          <a:lstStyle/>
          <a:p>
            <a:fld id="{7B6DD829-6552-4527-976B-D58D351476A5}" type="slidenum">
              <a:rPr lang="en-US" smtClean="0"/>
              <a:t>‹#›</a:t>
            </a:fld>
            <a:endParaRPr lang="en-US"/>
          </a:p>
        </p:txBody>
      </p:sp>
    </p:spTree>
    <p:extLst>
      <p:ext uri="{BB962C8B-B14F-4D97-AF65-F5344CB8AC3E}">
        <p14:creationId xmlns:p14="http://schemas.microsoft.com/office/powerpoint/2010/main" val="15644953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4B1EBE-9E5A-D2AE-608C-764218244D8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3D52C4F-DA79-51EB-7550-401DE076286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4DC1E7C-7BFE-EB15-7919-CDCA9A5E827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3EF36D2-A5BA-010C-D749-96F52449024D}"/>
              </a:ext>
            </a:extLst>
          </p:cNvPr>
          <p:cNvSpPr>
            <a:spLocks noGrp="1"/>
          </p:cNvSpPr>
          <p:nvPr>
            <p:ph type="dt" sz="half" idx="10"/>
          </p:nvPr>
        </p:nvSpPr>
        <p:spPr/>
        <p:txBody>
          <a:bodyPr/>
          <a:lstStyle/>
          <a:p>
            <a:fld id="{FF9270BB-DA00-4674-A8D0-5161C3E8F9EB}" type="datetimeFigureOut">
              <a:rPr lang="en-US" smtClean="0"/>
              <a:t>6/7/2026</a:t>
            </a:fld>
            <a:endParaRPr lang="en-US"/>
          </a:p>
        </p:txBody>
      </p:sp>
      <p:sp>
        <p:nvSpPr>
          <p:cNvPr id="6" name="Footer Placeholder 5">
            <a:extLst>
              <a:ext uri="{FF2B5EF4-FFF2-40B4-BE49-F238E27FC236}">
                <a16:creationId xmlns:a16="http://schemas.microsoft.com/office/drawing/2014/main" id="{9C0FA99F-E322-57DA-6551-E23C04F7B4E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BFE36D1-2540-C891-43AA-E901B673B00F}"/>
              </a:ext>
            </a:extLst>
          </p:cNvPr>
          <p:cNvSpPr>
            <a:spLocks noGrp="1"/>
          </p:cNvSpPr>
          <p:nvPr>
            <p:ph type="sldNum" sz="quarter" idx="12"/>
          </p:nvPr>
        </p:nvSpPr>
        <p:spPr/>
        <p:txBody>
          <a:bodyPr/>
          <a:lstStyle/>
          <a:p>
            <a:fld id="{7B6DD829-6552-4527-976B-D58D351476A5}" type="slidenum">
              <a:rPr lang="en-US" smtClean="0"/>
              <a:t>‹#›</a:t>
            </a:fld>
            <a:endParaRPr lang="en-US"/>
          </a:p>
        </p:txBody>
      </p:sp>
    </p:spTree>
    <p:extLst>
      <p:ext uri="{BB962C8B-B14F-4D97-AF65-F5344CB8AC3E}">
        <p14:creationId xmlns:p14="http://schemas.microsoft.com/office/powerpoint/2010/main" val="1396016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D3FDDD-007D-952E-406E-74ABE877217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11B6501-D9A2-2599-EADE-A3CE772916D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D440EF7-F6CA-A876-35F2-98FAF5E46D0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1EE53C5-8986-C330-C4ED-11AB5DFD4A29}"/>
              </a:ext>
            </a:extLst>
          </p:cNvPr>
          <p:cNvSpPr>
            <a:spLocks noGrp="1"/>
          </p:cNvSpPr>
          <p:nvPr>
            <p:ph type="dt" sz="half" idx="10"/>
          </p:nvPr>
        </p:nvSpPr>
        <p:spPr/>
        <p:txBody>
          <a:bodyPr/>
          <a:lstStyle/>
          <a:p>
            <a:fld id="{FF9270BB-DA00-4674-A8D0-5161C3E8F9EB}" type="datetimeFigureOut">
              <a:rPr lang="en-US" smtClean="0"/>
              <a:t>6/7/2026</a:t>
            </a:fld>
            <a:endParaRPr lang="en-US"/>
          </a:p>
        </p:txBody>
      </p:sp>
      <p:sp>
        <p:nvSpPr>
          <p:cNvPr id="6" name="Footer Placeholder 5">
            <a:extLst>
              <a:ext uri="{FF2B5EF4-FFF2-40B4-BE49-F238E27FC236}">
                <a16:creationId xmlns:a16="http://schemas.microsoft.com/office/drawing/2014/main" id="{BA9508A7-39E8-F1DA-2CA2-97F906CB565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0B14D9C-6A0B-5E1B-8D56-8A2CE895E518}"/>
              </a:ext>
            </a:extLst>
          </p:cNvPr>
          <p:cNvSpPr>
            <a:spLocks noGrp="1"/>
          </p:cNvSpPr>
          <p:nvPr>
            <p:ph type="sldNum" sz="quarter" idx="12"/>
          </p:nvPr>
        </p:nvSpPr>
        <p:spPr/>
        <p:txBody>
          <a:bodyPr/>
          <a:lstStyle/>
          <a:p>
            <a:fld id="{7B6DD829-6552-4527-976B-D58D351476A5}" type="slidenum">
              <a:rPr lang="en-US" smtClean="0"/>
              <a:t>‹#›</a:t>
            </a:fld>
            <a:endParaRPr lang="en-US"/>
          </a:p>
        </p:txBody>
      </p:sp>
    </p:spTree>
    <p:extLst>
      <p:ext uri="{BB962C8B-B14F-4D97-AF65-F5344CB8AC3E}">
        <p14:creationId xmlns:p14="http://schemas.microsoft.com/office/powerpoint/2010/main" val="18516107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8E4523-374A-771B-FD31-FE3EA4A5689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5B621D3-B298-C2AE-5528-696E858E8EC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E843556-0F0B-925D-365D-9ECC9599CF7B}"/>
              </a:ext>
            </a:extLst>
          </p:cNvPr>
          <p:cNvSpPr>
            <a:spLocks noGrp="1"/>
          </p:cNvSpPr>
          <p:nvPr>
            <p:ph type="dt" sz="half" idx="10"/>
          </p:nvPr>
        </p:nvSpPr>
        <p:spPr/>
        <p:txBody>
          <a:bodyPr/>
          <a:lstStyle/>
          <a:p>
            <a:fld id="{FF9270BB-DA00-4674-A8D0-5161C3E8F9EB}" type="datetimeFigureOut">
              <a:rPr lang="en-US" smtClean="0"/>
              <a:t>6/7/2026</a:t>
            </a:fld>
            <a:endParaRPr lang="en-US"/>
          </a:p>
        </p:txBody>
      </p:sp>
      <p:sp>
        <p:nvSpPr>
          <p:cNvPr id="5" name="Footer Placeholder 4">
            <a:extLst>
              <a:ext uri="{FF2B5EF4-FFF2-40B4-BE49-F238E27FC236}">
                <a16:creationId xmlns:a16="http://schemas.microsoft.com/office/drawing/2014/main" id="{7AA3525F-99DF-8E7D-78E4-07C9D0BC950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889DA6C-6B55-137F-9BF7-08F910D293C8}"/>
              </a:ext>
            </a:extLst>
          </p:cNvPr>
          <p:cNvSpPr>
            <a:spLocks noGrp="1"/>
          </p:cNvSpPr>
          <p:nvPr>
            <p:ph type="sldNum" sz="quarter" idx="12"/>
          </p:nvPr>
        </p:nvSpPr>
        <p:spPr/>
        <p:txBody>
          <a:bodyPr/>
          <a:lstStyle/>
          <a:p>
            <a:fld id="{7B6DD829-6552-4527-976B-D58D351476A5}" type="slidenum">
              <a:rPr lang="en-US" smtClean="0"/>
              <a:t>‹#›</a:t>
            </a:fld>
            <a:endParaRPr lang="en-US"/>
          </a:p>
        </p:txBody>
      </p:sp>
    </p:spTree>
    <p:extLst>
      <p:ext uri="{BB962C8B-B14F-4D97-AF65-F5344CB8AC3E}">
        <p14:creationId xmlns:p14="http://schemas.microsoft.com/office/powerpoint/2010/main" val="36082289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41131DF-423C-6B0E-4A60-1E58A26A4EE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F2334D3-B712-349D-2E73-597D8FA6010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8C69D79-0A34-27DD-0DA3-A979D21BD345}"/>
              </a:ext>
            </a:extLst>
          </p:cNvPr>
          <p:cNvSpPr>
            <a:spLocks noGrp="1"/>
          </p:cNvSpPr>
          <p:nvPr>
            <p:ph type="dt" sz="half" idx="10"/>
          </p:nvPr>
        </p:nvSpPr>
        <p:spPr/>
        <p:txBody>
          <a:bodyPr/>
          <a:lstStyle/>
          <a:p>
            <a:fld id="{FF9270BB-DA00-4674-A8D0-5161C3E8F9EB}" type="datetimeFigureOut">
              <a:rPr lang="en-US" smtClean="0"/>
              <a:t>6/7/2026</a:t>
            </a:fld>
            <a:endParaRPr lang="en-US"/>
          </a:p>
        </p:txBody>
      </p:sp>
      <p:sp>
        <p:nvSpPr>
          <p:cNvPr id="5" name="Footer Placeholder 4">
            <a:extLst>
              <a:ext uri="{FF2B5EF4-FFF2-40B4-BE49-F238E27FC236}">
                <a16:creationId xmlns:a16="http://schemas.microsoft.com/office/drawing/2014/main" id="{F68AB324-58AB-9052-D5F3-7F20B378CA2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5F4CEB2-A79B-9B11-C64D-6FF0ED31F9E8}"/>
              </a:ext>
            </a:extLst>
          </p:cNvPr>
          <p:cNvSpPr>
            <a:spLocks noGrp="1"/>
          </p:cNvSpPr>
          <p:nvPr>
            <p:ph type="sldNum" sz="quarter" idx="12"/>
          </p:nvPr>
        </p:nvSpPr>
        <p:spPr/>
        <p:txBody>
          <a:bodyPr/>
          <a:lstStyle/>
          <a:p>
            <a:fld id="{7B6DD829-6552-4527-976B-D58D351476A5}" type="slidenum">
              <a:rPr lang="en-US" smtClean="0"/>
              <a:t>‹#›</a:t>
            </a:fld>
            <a:endParaRPr lang="en-US"/>
          </a:p>
        </p:txBody>
      </p:sp>
    </p:spTree>
    <p:extLst>
      <p:ext uri="{BB962C8B-B14F-4D97-AF65-F5344CB8AC3E}">
        <p14:creationId xmlns:p14="http://schemas.microsoft.com/office/powerpoint/2010/main" val="6050169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4B00FAA-8035-5834-34BE-F234AB175C3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479D509-E067-F05F-22DA-395D9D561B6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57CC66D-5138-F760-1824-ABDBEBE7C21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F9270BB-DA00-4674-A8D0-5161C3E8F9EB}" type="datetimeFigureOut">
              <a:rPr lang="en-US" smtClean="0"/>
              <a:t>6/7/2026</a:t>
            </a:fld>
            <a:endParaRPr lang="en-US"/>
          </a:p>
        </p:txBody>
      </p:sp>
      <p:sp>
        <p:nvSpPr>
          <p:cNvPr id="5" name="Footer Placeholder 4">
            <a:extLst>
              <a:ext uri="{FF2B5EF4-FFF2-40B4-BE49-F238E27FC236}">
                <a16:creationId xmlns:a16="http://schemas.microsoft.com/office/drawing/2014/main" id="{6419E7AA-D7E8-6755-9CC9-839F8CE4DAB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DDE8AB3D-0526-5265-124D-9F1C259C389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B6DD829-6552-4527-976B-D58D351476A5}" type="slidenum">
              <a:rPr lang="en-US" smtClean="0"/>
              <a:t>‹#›</a:t>
            </a:fld>
            <a:endParaRPr lang="en-US"/>
          </a:p>
        </p:txBody>
      </p:sp>
    </p:spTree>
    <p:extLst>
      <p:ext uri="{BB962C8B-B14F-4D97-AF65-F5344CB8AC3E}">
        <p14:creationId xmlns:p14="http://schemas.microsoft.com/office/powerpoint/2010/main" val="200099507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EC8879-DC26-B685-2B4A-63667A3120A3}"/>
              </a:ext>
            </a:extLst>
          </p:cNvPr>
          <p:cNvSpPr>
            <a:spLocks noGrp="1"/>
          </p:cNvSpPr>
          <p:nvPr>
            <p:ph type="ctrTitle"/>
          </p:nvPr>
        </p:nvSpPr>
        <p:spPr/>
        <p:txBody>
          <a:bodyPr/>
          <a:lstStyle/>
          <a:p>
            <a:r>
              <a:rPr lang="en-US" dirty="0"/>
              <a:t>Basket Probabilities?</a:t>
            </a:r>
          </a:p>
        </p:txBody>
      </p:sp>
      <p:sp>
        <p:nvSpPr>
          <p:cNvPr id="3" name="Subtitle 2">
            <a:extLst>
              <a:ext uri="{FF2B5EF4-FFF2-40B4-BE49-F238E27FC236}">
                <a16:creationId xmlns:a16="http://schemas.microsoft.com/office/drawing/2014/main" id="{F21CE646-8D43-F340-901D-5F1F49D96F6B}"/>
              </a:ext>
            </a:extLst>
          </p:cNvPr>
          <p:cNvSpPr>
            <a:spLocks noGrp="1"/>
          </p:cNvSpPr>
          <p:nvPr>
            <p:ph type="subTitle" idx="1"/>
          </p:nvPr>
        </p:nvSpPr>
        <p:spPr/>
        <p:txBody>
          <a:bodyPr/>
          <a:lstStyle/>
          <a:p>
            <a:r>
              <a:rPr lang="en-US" dirty="0"/>
              <a:t>How “Deterministic” Funding Math Becomes Uncertain</a:t>
            </a:r>
          </a:p>
        </p:txBody>
      </p:sp>
    </p:spTree>
    <p:extLst>
      <p:ext uri="{BB962C8B-B14F-4D97-AF65-F5344CB8AC3E}">
        <p14:creationId xmlns:p14="http://schemas.microsoft.com/office/powerpoint/2010/main" val="15291941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9B4723-7EB0-722F-C1BE-72EB31FE911F}"/>
              </a:ext>
            </a:extLst>
          </p:cNvPr>
          <p:cNvSpPr>
            <a:spLocks noGrp="1"/>
          </p:cNvSpPr>
          <p:nvPr>
            <p:ph type="title"/>
          </p:nvPr>
        </p:nvSpPr>
        <p:spPr/>
        <p:txBody>
          <a:bodyPr/>
          <a:lstStyle/>
          <a:p>
            <a:r>
              <a:rPr lang="en-US" dirty="0"/>
              <a:t>Fair Value is NOT Real Life</a:t>
            </a:r>
          </a:p>
        </p:txBody>
      </p:sp>
      <p:sp>
        <p:nvSpPr>
          <p:cNvPr id="3" name="Content Placeholder 2">
            <a:extLst>
              <a:ext uri="{FF2B5EF4-FFF2-40B4-BE49-F238E27FC236}">
                <a16:creationId xmlns:a16="http://schemas.microsoft.com/office/drawing/2014/main" id="{E8513BB4-1FC5-3AC9-DB06-A277FE627532}"/>
              </a:ext>
            </a:extLst>
          </p:cNvPr>
          <p:cNvSpPr>
            <a:spLocks noGrp="1"/>
          </p:cNvSpPr>
          <p:nvPr>
            <p:ph idx="1"/>
          </p:nvPr>
        </p:nvSpPr>
        <p:spPr/>
        <p:txBody>
          <a:bodyPr/>
          <a:lstStyle/>
          <a:p>
            <a:r>
              <a:rPr lang="en-US" dirty="0"/>
              <a:t>Probably the biggest trip up for junior analysts, and even some new-medium experienced FIRV traders is the over confidence in FV modeling.</a:t>
            </a:r>
          </a:p>
          <a:p>
            <a:r>
              <a:rPr lang="en-US" dirty="0"/>
              <a:t>Markets are uncertain, random, and move in bursts with the newest narratives and regimes being, by definition, near impossible to map with math alone.</a:t>
            </a:r>
          </a:p>
          <a:p>
            <a:r>
              <a:rPr lang="en-US" dirty="0"/>
              <a:t>As such, when a market gives and rich or cheap regime, this may not be a signal of mean reversion but rather a new macro narrative moving the economy.</a:t>
            </a:r>
          </a:p>
        </p:txBody>
      </p:sp>
    </p:spTree>
    <p:extLst>
      <p:ext uri="{BB962C8B-B14F-4D97-AF65-F5344CB8AC3E}">
        <p14:creationId xmlns:p14="http://schemas.microsoft.com/office/powerpoint/2010/main" val="20864601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E2A19A2-0407-C6FD-50DE-9CC9E10B866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66071" y="13811"/>
            <a:ext cx="10259857" cy="6830378"/>
          </a:xfrm>
          <a:prstGeom prst="rect">
            <a:avLst/>
          </a:prstGeom>
        </p:spPr>
      </p:pic>
    </p:spTree>
    <p:extLst>
      <p:ext uri="{BB962C8B-B14F-4D97-AF65-F5344CB8AC3E}">
        <p14:creationId xmlns:p14="http://schemas.microsoft.com/office/powerpoint/2010/main" val="29195012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90231B-E1E8-9630-0200-9BB9645A9C2F}"/>
              </a:ext>
            </a:extLst>
          </p:cNvPr>
          <p:cNvSpPr>
            <a:spLocks noGrp="1"/>
          </p:cNvSpPr>
          <p:nvPr>
            <p:ph type="title"/>
          </p:nvPr>
        </p:nvSpPr>
        <p:spPr/>
        <p:txBody>
          <a:bodyPr/>
          <a:lstStyle/>
          <a:p>
            <a:r>
              <a:rPr lang="en-US" dirty="0"/>
              <a:t>CTD Switching, NOT just Macros</a:t>
            </a:r>
          </a:p>
        </p:txBody>
      </p:sp>
      <p:sp>
        <p:nvSpPr>
          <p:cNvPr id="3" name="Content Placeholder 2">
            <a:extLst>
              <a:ext uri="{FF2B5EF4-FFF2-40B4-BE49-F238E27FC236}">
                <a16:creationId xmlns:a16="http://schemas.microsoft.com/office/drawing/2014/main" id="{1A970186-7D91-E317-4AF1-4E8DFE7FF4C2}"/>
              </a:ext>
            </a:extLst>
          </p:cNvPr>
          <p:cNvSpPr>
            <a:spLocks noGrp="1"/>
          </p:cNvSpPr>
          <p:nvPr>
            <p:ph idx="1"/>
          </p:nvPr>
        </p:nvSpPr>
        <p:spPr/>
        <p:txBody>
          <a:bodyPr/>
          <a:lstStyle/>
          <a:p>
            <a:r>
              <a:rPr lang="en-US" dirty="0"/>
              <a:t>This nuance is HUGE, CTD switching, which already can occur frequently farther out from delivery in FV models, isn’t simply tied to hypothetical funding.</a:t>
            </a:r>
          </a:p>
          <a:p>
            <a:r>
              <a:rPr lang="en-US" dirty="0"/>
              <a:t>There are many factors such as implied optionality (the deliverer covering short futures contract has a synthetical ‘put’ option), ease of use for futures speculation on rates, retail trading, and even the solvency of special repo providers.</a:t>
            </a:r>
          </a:p>
          <a:p>
            <a:r>
              <a:rPr lang="en-US" dirty="0"/>
              <a:t>In summary, the macros matter, but more so if the plumbing around the CME Futures ecosystem isn’t clogged.</a:t>
            </a:r>
          </a:p>
        </p:txBody>
      </p:sp>
    </p:spTree>
    <p:extLst>
      <p:ext uri="{BB962C8B-B14F-4D97-AF65-F5344CB8AC3E}">
        <p14:creationId xmlns:p14="http://schemas.microsoft.com/office/powerpoint/2010/main" val="30433708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EB94D80-06E8-075F-D004-41E5D9B0D20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61308" y="23337"/>
            <a:ext cx="10269383" cy="6811326"/>
          </a:xfrm>
          <a:prstGeom prst="rect">
            <a:avLst/>
          </a:prstGeom>
        </p:spPr>
      </p:pic>
    </p:spTree>
    <p:extLst>
      <p:ext uri="{BB962C8B-B14F-4D97-AF65-F5344CB8AC3E}">
        <p14:creationId xmlns:p14="http://schemas.microsoft.com/office/powerpoint/2010/main" val="10903855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64BC3D-53C2-A775-095D-5182A175622B}"/>
              </a:ext>
            </a:extLst>
          </p:cNvPr>
          <p:cNvSpPr>
            <a:spLocks noGrp="1"/>
          </p:cNvSpPr>
          <p:nvPr>
            <p:ph type="title"/>
          </p:nvPr>
        </p:nvSpPr>
        <p:spPr/>
        <p:txBody>
          <a:bodyPr/>
          <a:lstStyle/>
          <a:p>
            <a:r>
              <a:rPr lang="en-US" dirty="0"/>
              <a:t>Flows, narrative Dependent</a:t>
            </a:r>
          </a:p>
        </p:txBody>
      </p:sp>
      <p:sp>
        <p:nvSpPr>
          <p:cNvPr id="3" name="Content Placeholder 2">
            <a:extLst>
              <a:ext uri="{FF2B5EF4-FFF2-40B4-BE49-F238E27FC236}">
                <a16:creationId xmlns:a16="http://schemas.microsoft.com/office/drawing/2014/main" id="{C01E58F0-71B8-20CF-085B-62730C2EECDC}"/>
              </a:ext>
            </a:extLst>
          </p:cNvPr>
          <p:cNvSpPr>
            <a:spLocks noGrp="1"/>
          </p:cNvSpPr>
          <p:nvPr>
            <p:ph idx="1"/>
          </p:nvPr>
        </p:nvSpPr>
        <p:spPr/>
        <p:txBody>
          <a:bodyPr>
            <a:normAutofit/>
          </a:bodyPr>
          <a:lstStyle/>
          <a:p>
            <a:r>
              <a:rPr lang="en-US" dirty="0"/>
              <a:t>If contract flows themselves, and LP solvency becomes a major source of uncertainty, couldn’t one simply model that? Yes, but no.</a:t>
            </a:r>
          </a:p>
          <a:p>
            <a:r>
              <a:rPr lang="en-US" dirty="0"/>
              <a:t>Interest Rate speculation for instance is heavily narrative dependent. Low PPI on credit fears, massive long slamming. Hot labor data on energy, emergency duration escape. During panic flows, most probabilistic modeling breaks on the microstructure.</a:t>
            </a:r>
          </a:p>
          <a:p>
            <a:r>
              <a:rPr lang="en-US" dirty="0"/>
              <a:t>Hence a more accurate way is to estimate what the current narrative is, and what cluster of events can cause multiple std dv events that are context dependent</a:t>
            </a:r>
          </a:p>
        </p:txBody>
      </p:sp>
    </p:spTree>
    <p:extLst>
      <p:ext uri="{BB962C8B-B14F-4D97-AF65-F5344CB8AC3E}">
        <p14:creationId xmlns:p14="http://schemas.microsoft.com/office/powerpoint/2010/main" val="20330549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53555E87-0A10-2D02-9F4B-FA128653D40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6545" y="9047"/>
            <a:ext cx="10278909" cy="6839905"/>
          </a:xfrm>
          <a:prstGeom prst="rect">
            <a:avLst/>
          </a:prstGeom>
        </p:spPr>
      </p:pic>
    </p:spTree>
    <p:extLst>
      <p:ext uri="{BB962C8B-B14F-4D97-AF65-F5344CB8AC3E}">
        <p14:creationId xmlns:p14="http://schemas.microsoft.com/office/powerpoint/2010/main" val="29142821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AFB98D-435C-598E-4EC3-4CFADB56565C}"/>
              </a:ext>
            </a:extLst>
          </p:cNvPr>
          <p:cNvSpPr>
            <a:spLocks noGrp="1"/>
          </p:cNvSpPr>
          <p:nvPr>
            <p:ph type="title"/>
          </p:nvPr>
        </p:nvSpPr>
        <p:spPr/>
        <p:txBody>
          <a:bodyPr/>
          <a:lstStyle/>
          <a:p>
            <a:r>
              <a:rPr lang="en-US" dirty="0"/>
              <a:t>Repo Stress, the Ultimate Black Swan</a:t>
            </a:r>
          </a:p>
        </p:txBody>
      </p:sp>
      <p:sp>
        <p:nvSpPr>
          <p:cNvPr id="3" name="Content Placeholder 2">
            <a:extLst>
              <a:ext uri="{FF2B5EF4-FFF2-40B4-BE49-F238E27FC236}">
                <a16:creationId xmlns:a16="http://schemas.microsoft.com/office/drawing/2014/main" id="{7B414AE5-6F10-727E-91E9-4AC451FB937D}"/>
              </a:ext>
            </a:extLst>
          </p:cNvPr>
          <p:cNvSpPr>
            <a:spLocks noGrp="1"/>
          </p:cNvSpPr>
          <p:nvPr>
            <p:ph idx="1"/>
          </p:nvPr>
        </p:nvSpPr>
        <p:spPr/>
        <p:txBody>
          <a:bodyPr>
            <a:normAutofit/>
          </a:bodyPr>
          <a:lstStyle/>
          <a:p>
            <a:r>
              <a:rPr lang="en-US" dirty="0"/>
              <a:t>If basket funding is relied on special repo, probabilities modeling on dollar repo, and basis/calendars of the futures on dollar repo, how could you possibly manage real time probabilities modeling in repo stress? Dirty secret, you can’t!</a:t>
            </a:r>
          </a:p>
          <a:p>
            <a:r>
              <a:rPr lang="en-US" dirty="0"/>
              <a:t>During an overnight decorrelation event the options-based probabilities, calendar spreads on futures, and CTD based on market futures becomes almost completely random, with the true flows being in overnight rates and the fed response. Qualitatively, the game becomes mapping the projected fed response!</a:t>
            </a:r>
          </a:p>
        </p:txBody>
      </p:sp>
    </p:spTree>
    <p:extLst>
      <p:ext uri="{BB962C8B-B14F-4D97-AF65-F5344CB8AC3E}">
        <p14:creationId xmlns:p14="http://schemas.microsoft.com/office/powerpoint/2010/main" val="36708424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EC03091-D1A2-0AFC-0566-1C4A2A7D414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61308" y="4284"/>
            <a:ext cx="10269383" cy="6849431"/>
          </a:xfrm>
          <a:prstGeom prst="rect">
            <a:avLst/>
          </a:prstGeom>
        </p:spPr>
      </p:pic>
    </p:spTree>
    <p:extLst>
      <p:ext uri="{BB962C8B-B14F-4D97-AF65-F5344CB8AC3E}">
        <p14:creationId xmlns:p14="http://schemas.microsoft.com/office/powerpoint/2010/main" val="9162516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1092D9-C18F-DE93-65B8-3006CD3B1156}"/>
              </a:ext>
            </a:extLst>
          </p:cNvPr>
          <p:cNvSpPr>
            <a:spLocks noGrp="1"/>
          </p:cNvSpPr>
          <p:nvPr>
            <p:ph type="title"/>
          </p:nvPr>
        </p:nvSpPr>
        <p:spPr/>
        <p:txBody>
          <a:bodyPr/>
          <a:lstStyle/>
          <a:p>
            <a:r>
              <a:rPr lang="en-US" dirty="0"/>
              <a:t>Where are the Basket Probabilities?!</a:t>
            </a:r>
          </a:p>
        </p:txBody>
      </p:sp>
      <p:sp>
        <p:nvSpPr>
          <p:cNvPr id="3" name="Content Placeholder 2">
            <a:extLst>
              <a:ext uri="{FF2B5EF4-FFF2-40B4-BE49-F238E27FC236}">
                <a16:creationId xmlns:a16="http://schemas.microsoft.com/office/drawing/2014/main" id="{0E52BF67-7157-9E37-F564-C6C87AA8CD17}"/>
              </a:ext>
            </a:extLst>
          </p:cNvPr>
          <p:cNvSpPr>
            <a:spLocks noGrp="1"/>
          </p:cNvSpPr>
          <p:nvPr>
            <p:ph idx="1"/>
          </p:nvPr>
        </p:nvSpPr>
        <p:spPr/>
        <p:txBody>
          <a:bodyPr/>
          <a:lstStyle/>
          <a:p>
            <a:r>
              <a:rPr lang="en-US" dirty="0"/>
              <a:t>This is where FIRV becomes an art, not a math formula. There is no perfect model, framework, or even trade for this aspect of the CTD basket. Instead, it turns to quant skill and veteran experience.</a:t>
            </a:r>
          </a:p>
          <a:p>
            <a:r>
              <a:rPr lang="en-US" dirty="0"/>
              <a:t>For instance, Senior MMF traders saved many balance sheets in the COVID crash as they understood the run on short duration and projected fed response sometimes days before the rest of their teams.</a:t>
            </a:r>
          </a:p>
          <a:p>
            <a:r>
              <a:rPr lang="en-US" dirty="0"/>
              <a:t>Experienced quants helped stop duration bleeding during our recent bond selloff by understanding Stochastics  for short term exits.</a:t>
            </a:r>
          </a:p>
        </p:txBody>
      </p:sp>
    </p:spTree>
    <p:extLst>
      <p:ext uri="{BB962C8B-B14F-4D97-AF65-F5344CB8AC3E}">
        <p14:creationId xmlns:p14="http://schemas.microsoft.com/office/powerpoint/2010/main" val="5567595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87E7542-BF46-5727-566F-A2F299D9B50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80361" y="23337"/>
            <a:ext cx="10231278" cy="6811326"/>
          </a:xfrm>
          <a:prstGeom prst="rect">
            <a:avLst/>
          </a:prstGeom>
        </p:spPr>
      </p:pic>
    </p:spTree>
    <p:extLst>
      <p:ext uri="{BB962C8B-B14F-4D97-AF65-F5344CB8AC3E}">
        <p14:creationId xmlns:p14="http://schemas.microsoft.com/office/powerpoint/2010/main" val="36923339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372CDF-67B3-EED7-ABB1-0D446F9127B2}"/>
              </a:ext>
            </a:extLst>
          </p:cNvPr>
          <p:cNvSpPr>
            <a:spLocks noGrp="1"/>
          </p:cNvSpPr>
          <p:nvPr>
            <p:ph type="title"/>
          </p:nvPr>
        </p:nvSpPr>
        <p:spPr>
          <a:xfrm>
            <a:off x="838200" y="2766218"/>
            <a:ext cx="10515600" cy="1325563"/>
          </a:xfrm>
        </p:spPr>
        <p:txBody>
          <a:bodyPr/>
          <a:lstStyle/>
          <a:p>
            <a:pPr algn="ctr"/>
            <a:r>
              <a:rPr lang="en-US" dirty="0"/>
              <a:t>Thanks For Listening!</a:t>
            </a:r>
          </a:p>
        </p:txBody>
      </p:sp>
    </p:spTree>
    <p:extLst>
      <p:ext uri="{BB962C8B-B14F-4D97-AF65-F5344CB8AC3E}">
        <p14:creationId xmlns:p14="http://schemas.microsoft.com/office/powerpoint/2010/main" val="269767904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527EF202C489544903AE9974BF39310" ma:contentTypeVersion="4" ma:contentTypeDescription="Create a new document." ma:contentTypeScope="" ma:versionID="59bc2029951f676e9f30c2cc126892cb">
  <xsd:schema xmlns:xsd="http://www.w3.org/2001/XMLSchema" xmlns:xs="http://www.w3.org/2001/XMLSchema" xmlns:p="http://schemas.microsoft.com/office/2006/metadata/properties" xmlns:ns3="aa22a689-7505-4716-b802-371d38c763eb" targetNamespace="http://schemas.microsoft.com/office/2006/metadata/properties" ma:root="true" ma:fieldsID="11ccfcbd33bee6523d6e1d1941903c6f" ns3:_="">
    <xsd:import namespace="aa22a689-7505-4716-b802-371d38c763eb"/>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a22a689-7505-4716-b802-371d38c763eb"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33E3D04F-0479-4E79-979B-F6416D62136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a22a689-7505-4716-b802-371d38c763e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D98C7FCA-D639-44AC-A154-71EAC06465E8}">
  <ds:schemaRefs>
    <ds:schemaRef ds:uri="http://schemas.microsoft.com/sharepoint/v3/contenttype/forms"/>
  </ds:schemaRefs>
</ds:datastoreItem>
</file>

<file path=customXml/itemProps3.xml><?xml version="1.0" encoding="utf-8"?>
<ds:datastoreItem xmlns:ds="http://schemas.openxmlformats.org/officeDocument/2006/customXml" ds:itemID="{C37102BF-F2C0-4B6F-B5BB-88022294A52D}">
  <ds:schemaRefs>
    <ds:schemaRef ds:uri="http://purl.org/dc/dcmitype/"/>
    <ds:schemaRef ds:uri="http://www.w3.org/XML/1998/namespace"/>
    <ds:schemaRef ds:uri="http://schemas.microsoft.com/office/2006/metadata/properties"/>
    <ds:schemaRef ds:uri="http://purl.org/dc/terms/"/>
    <ds:schemaRef ds:uri="http://schemas.microsoft.com/office/infopath/2007/PartnerControls"/>
    <ds:schemaRef ds:uri="http://purl.org/dc/elements/1.1/"/>
    <ds:schemaRef ds:uri="http://schemas.microsoft.com/office/2006/documentManagement/types"/>
    <ds:schemaRef ds:uri="http://schemas.openxmlformats.org/package/2006/metadata/core-properties"/>
    <ds:schemaRef ds:uri="aa22a689-7505-4716-b802-371d38c763eb"/>
  </ds:schemaRefs>
</ds:datastoreItem>
</file>

<file path=docProps/app.xml><?xml version="1.0" encoding="utf-8"?>
<Properties xmlns="http://schemas.openxmlformats.org/officeDocument/2006/extended-properties" xmlns:vt="http://schemas.openxmlformats.org/officeDocument/2006/docPropsVTypes">
  <TotalTime>45</TotalTime>
  <Words>510</Words>
  <Application>Microsoft Office PowerPoint</Application>
  <PresentationFormat>Widescreen</PresentationFormat>
  <Paragraphs>22</Paragraphs>
  <Slides>12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Aptos</vt:lpstr>
      <vt:lpstr>Aptos Display</vt:lpstr>
      <vt:lpstr>Arial</vt:lpstr>
      <vt:lpstr>Office Theme</vt:lpstr>
      <vt:lpstr>Basket Probabilities?</vt:lpstr>
      <vt:lpstr>Fair Value is NOT Real Life</vt:lpstr>
      <vt:lpstr>PowerPoint Presentation</vt:lpstr>
      <vt:lpstr>CTD Switching, NOT just Macros</vt:lpstr>
      <vt:lpstr>PowerPoint Presentation</vt:lpstr>
      <vt:lpstr>Flows, narrative Dependent</vt:lpstr>
      <vt:lpstr>PowerPoint Presentation</vt:lpstr>
      <vt:lpstr>Repo Stress, the Ultimate Black Swan</vt:lpstr>
      <vt:lpstr>PowerPoint Presentation</vt:lpstr>
      <vt:lpstr>Where are the Basket Probabilities?!</vt:lpstr>
      <vt:lpstr>PowerPoint Presentation</vt:lpstr>
      <vt:lpstr>Thanks For Listening!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Daniel, Robert Nikolas</dc:creator>
  <cp:lastModifiedBy>Daniel, Robert Nikolas</cp:lastModifiedBy>
  <cp:revision>2</cp:revision>
  <dcterms:created xsi:type="dcterms:W3CDTF">2026-06-07T19:44:10Z</dcterms:created>
  <dcterms:modified xsi:type="dcterms:W3CDTF">2026-06-07T20:30:04Z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0x0101007527EF202C489544903AE9974BF39310</vt:lpwstr>
  </property>
</Properties>
</file>